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51412-Electrostatic-Discharge-ESD-Control-for-Lab-and-Factory-Engineers-and-Manager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20116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82512" y="0"/>
            <a:ext cx="201168" cy="6858000"/>
          </a:xfrm>
          <a:prstGeom prst="rect">
            <a:avLst/>
          </a:prstGeom>
          <a:solidFill>
            <a:srgbClr val="FAF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47104" y="0"/>
            <a:ext cx="201168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66928"/>
            <a:ext cx="749808" cy="749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481328"/>
            <a:ext cx="5257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413248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Electrostatic Discharge (ESD) Control for Lab and Factory Engineers and Managers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24528"/>
            <a:ext cx="5257800" cy="53035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TGS-2024051412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TSC: Electrostatic Discharge Control · ELE-OPR-4002-1.1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5303520" cy="8412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Tertiary Infotech Academy Pte Ltd · UEN 201200696W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B6372"/>
                </a:solidFill>
                <a:latin typeface="Arial"/>
              </a:rPr>
              <a:t>v3.1 · 20 August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MANDATORY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(TRAQOM · SSG)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 the live QR code shown by the trainer.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PM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required afternoon record.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before sitting the assessment.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Use the live LMS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reuse a screenshot or old QR code.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B6372"/>
                </a:solidFill>
                <a:latin typeface="Arial"/>
              </a:rPr>
              <a:t>GENERAL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3154680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2148840"/>
            <a:ext cx="1508760" cy="150876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2468880"/>
            <a:ext cx="150876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977639"/>
            <a:ext cx="27889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General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81728"/>
            <a:ext cx="2743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1783080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1783080"/>
            <a:ext cx="91440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819656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  </a:t>
            </a: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2505456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2505456"/>
            <a:ext cx="91440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542032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TITLE / DESIGNATION  </a:t>
            </a: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4528" y="3227832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3227832"/>
            <a:ext cx="91440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264408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QUALIFICATIONS  </a:t>
            </a: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3950208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3950208"/>
            <a:ext cx="91440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986784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AREAS OF EXPERTISE  </a:t>
            </a: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4672584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24528" y="4672584"/>
            <a:ext cx="91440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4709160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TRAINING &amp; INDUSTRY EXPERIENCE  </a:t>
            </a: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5394960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5394960"/>
            <a:ext cx="91440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5431536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  </a:t>
            </a: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3154680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2148840"/>
            <a:ext cx="1508760" cy="1508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2468880"/>
            <a:ext cx="1508760" cy="6217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977639"/>
            <a:ext cx="27889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81728"/>
            <a:ext cx="2743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 Trainer · 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1783080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1783080"/>
            <a:ext cx="91440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819656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  </a:t>
            </a:r>
            <a:r>
              <a:rPr sz="1200" b="0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2505456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2505456"/>
            <a:ext cx="91440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542032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TITLE / DESIGNATION  </a:t>
            </a:r>
            <a:r>
              <a:rPr sz="1200" b="0">
                <a:solidFill>
                  <a:srgbClr val="161B26"/>
                </a:solidFill>
                <a:latin typeface="Arial"/>
              </a:rPr>
              <a:t>Founder and principal trainer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4528" y="3227832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3227832"/>
            <a:ext cx="91440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264408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QUALIFICATIONS  </a:t>
            </a:r>
            <a:r>
              <a:rPr sz="1200" b="0">
                <a:solidFill>
                  <a:srgbClr val="161B26"/>
                </a:solidFill>
                <a:latin typeface="Arial"/>
              </a:rPr>
              <a:t>Doctorate · engineering and digital transformation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3950208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3950208"/>
            <a:ext cx="91440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986784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AREAS OF EXPERTISE  </a:t>
            </a:r>
            <a:r>
              <a:rPr sz="1200" b="0">
                <a:solidFill>
                  <a:srgbClr val="161B26"/>
                </a:solidFill>
                <a:latin typeface="Arial"/>
              </a:rPr>
              <a:t>Technology, quality, process and AI-enabled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4672584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24528" y="4672584"/>
            <a:ext cx="91440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4709160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TRAINING &amp; INDUSTRY EXPERIENCE  </a:t>
            </a:r>
            <a:r>
              <a:rPr sz="1200" b="0">
                <a:solidFill>
                  <a:srgbClr val="161B26"/>
                </a:solidFill>
                <a:latin typeface="Arial"/>
              </a:rPr>
              <a:t>Adult learning and enterprise implementation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5394960"/>
            <a:ext cx="7269480" cy="58521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5394960"/>
            <a:ext cx="91440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5431536"/>
            <a:ext cx="672084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  </a:t>
            </a:r>
            <a:r>
              <a:rPr sz="12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Let’s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01951"/>
            <a:ext cx="420624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856231"/>
            <a:ext cx="9738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Name and role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63347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60903"/>
            <a:ext cx="420624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615184"/>
            <a:ext cx="9738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Lab or factory process you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39242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420624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374136"/>
            <a:ext cx="9738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One ESD challenge you want to solve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151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178808"/>
            <a:ext cx="420624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4133088"/>
            <a:ext cx="9738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One measurement or control item you already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CLASS AGREEMENT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12862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128625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188464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234184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057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Ask, challenge and share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12862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12862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88464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234184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057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conversation; disagree with ideas, not people.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316224"/>
            <a:ext cx="5234940" cy="12862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3316224"/>
            <a:ext cx="91440" cy="128625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3694176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3739896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3480816"/>
            <a:ext cx="4091939" cy="1057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Protect 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fictional scenarios; do not expose customer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3316224"/>
            <a:ext cx="5234940" cy="12862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3316224"/>
            <a:ext cx="91440" cy="12862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739896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80816"/>
            <a:ext cx="4091939" cy="1057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 punctual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821936"/>
            <a:ext cx="5234940" cy="12862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8" y="4821936"/>
            <a:ext cx="91440" cy="128625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407" y="519988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5245608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7" y="4986528"/>
            <a:ext cx="4091939" cy="1057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Phones silent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 out quietly for urgent calls.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59068" y="4821936"/>
            <a:ext cx="5234940" cy="128625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59068" y="4821936"/>
            <a:ext cx="91440" cy="12862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19988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45608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86528"/>
            <a:ext cx="4091939" cy="1057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Safety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Stop any activity that conflicts with site electrical or process safety.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LESSON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Two-day course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ESD fundamentals, failure mechanisms and control implementation.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Standards, measurement, audit, incident response and management control.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 h WA + 1 h Case Study; open book; submit on LMS.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control measures to manage ESD generation based on ESD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Evaluate and recommend actions to improve ESD control effectiveness in accordance with ESD standards.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Eight realistic activities build audit-ready outputs.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activity mirrors lab/factory decisions.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ELECTROSTATIC DISCHARGE CONTROL · ELE-OPR-4002-1.1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Knowledge and 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9098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9098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0002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04596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6812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Introduction to ESD theory and principles, test models and ESD control items.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9098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9098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0002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04596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6812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Static control with respect to established ESD standards.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939796"/>
            <a:ext cx="5234940" cy="9098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939796"/>
            <a:ext cx="91440" cy="9098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312953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3175253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3104388"/>
            <a:ext cx="4091939" cy="6812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Types of ESD instruments used for checks and measurements.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2939796"/>
            <a:ext cx="5234940" cy="9098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2939796"/>
            <a:ext cx="91440" cy="9098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2953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75253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104388"/>
            <a:ext cx="4091939" cy="6812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Preventive measures to reduce the risk of ESD generation.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069080"/>
            <a:ext cx="5234940" cy="9098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8" y="4069080"/>
            <a:ext cx="91440" cy="9098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407" y="425881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4304538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7" y="4233672"/>
            <a:ext cx="4091939" cy="6812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Perform control measures to control the generation of ESD.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59068" y="4069080"/>
            <a:ext cx="5234940" cy="9098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59068" y="4069080"/>
            <a:ext cx="91440" cy="9098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5881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304538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233672"/>
            <a:ext cx="4091939" cy="6812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Monitor the effectiveness of employed ESD control measures.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8" y="5198364"/>
            <a:ext cx="5234940" cy="9098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9808" y="5198364"/>
            <a:ext cx="91440" cy="9098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8407" y="538810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7" y="5433822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64207" y="5362956"/>
            <a:ext cx="4091939" cy="6812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Recommend follow-up actions to reduce the risk of ESD generation.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CANDIDATE CONDUCT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Individual work; no discussion.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Open book: course slides, Learner Guide and approved materials.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Phones and other materials under the 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black/blue pen; no correction fluid.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INSTRUMENTS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WA: 4 open-ended questions, K1–K4, 1 hour.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Case Study: 2 open-ended tasks, A1–A3, 1 hour.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Submit completed answers on the LMS.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Reassessment and appeal rights apply.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ELIGIBILITY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Minimum 75% SSG digital attendance.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Complete both assessment instruments.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Competent outcome required for successful completion.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Assessment evidence must be your own 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Assessor feedback explains the decision.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Appeal may be lodged through the published process.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ASSESSMENT · OPEN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HANDS-ON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2521458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3065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3065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2302002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course 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383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0721" y="2240280"/>
            <a:ext cx="2521458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0397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397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449" y="3675887"/>
            <a:ext cx="2302002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Choose Clone or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4747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1636" y="2240280"/>
            <a:ext cx="2521458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4489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4489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1364" y="3675887"/>
            <a:ext cx="2302002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activities/ folder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566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2240280"/>
            <a:ext cx="2521458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8580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8580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2278" y="3675887"/>
            <a:ext cx="2302002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Start with the numbered README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5596128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  <a:hlinkClick r:id="rId2"/>
              </a:rPr>
              <a:t>Open the course activity repository</a:t>
            </a:r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REASONING CHECKPOINT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to reason about ESD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240280"/>
            <a:ext cx="1325880" cy="13258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14600"/>
            <a:ext cx="13258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2194560"/>
            <a:ext cx="8458200" cy="1965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Recognise the charge source, field and vulnerable item before selecting a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4434840"/>
            <a:ext cx="8183879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Detailed execution steps and evidence templates are in the Learner Guide and activity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97840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MODULE 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98298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Basics of ESD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858768"/>
            <a:ext cx="96012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Charge generation · discharge paths · HBM/MM/CDM · failure modes · business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58368"/>
            <a:ext cx="19659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6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17320"/>
            <a:ext cx="9966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057400"/>
            <a:ext cx="10012680" cy="18745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A sudden charge transfer can damage a device without a visible spark or a felt shock.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315968"/>
            <a:ext cx="9784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Treat every unprotected ESDS item as vulnerable throughout handling, test, storage and service.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charge–field–discharge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Contact and separation create charge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Charge remains on isolated conductors or insulators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electric field polarises nearby objects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conductive path forms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Fast current damages a vulnerable device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Triboelectric charging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Material pair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Different electron affinities drive polarity and magnitude.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Contact area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More intimate contact can transfer more charge.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Separation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Speed and force affect charge generation.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Environment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Humidity and contamination change surface leakage.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Conductors, dissipative materials and insulators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Conductors redistribute charge quickly and can be grounded.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Dissipative materials move charge in a controlled manner.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Insulators retain localised charge and cannot be neutralised by grounding alone.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Low-charging, dissipative and shielding are different material functions.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17320"/>
            <a:ext cx="9966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057400"/>
            <a:ext cx="10012680" cy="18745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A metal tool, trolley or fixture can remain charged when it has no verified path to 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315968"/>
            <a:ext cx="9784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Bonding removes potential differences; grounding provides a controlled reference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Electrostatic induction and polarisation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Charged object approaches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Field redistributes charge in nearby conductor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Temporary ground connection permits charge 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Ground is removed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Object retains a net charge after the field leaves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ANALOG DEVICES ESD 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Contact discharge versus air discharge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Contact discharge: differently charged objects touch and charge transfers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Waveform depends on the source, path impedance and contact geometry.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Air discharge: a strong field ionises an air gap before contact.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Visible sparks represent only a subset of damaging ESD events.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controls discharge severity?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Voltage difference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Stored potential is one risk indicator, not the whole event.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Capacitance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More stored charge can raise available energy.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Path impedance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Resistance and inductance shape peak current and rise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sensitivity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Pins, package and internal structures determine failure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ANALOG DEVICES ESD 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Body Model (HBM)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Represents a charged person discharging through a device pin.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Useful for component qualification and handling robustness.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 laboratory model—not a prediction of every factory event.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supplier sensitivity data and the applicable controlled test method.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1 · MODEL / PROTECTION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HBM qualification uses a defined source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6446520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-039-pic-01-2fd23a81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401807"/>
            <a:ext cx="6080760" cy="2712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5623560"/>
            <a:ext cx="60807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Technical figure retained from source deck slide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874519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08392" y="2130551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8392" y="2185415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039111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Capacitance and series resistance shape the test pulse.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118103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08392" y="3374135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8392" y="3428999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282695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network stresses a defined pin pair under a controlled method.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361687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08392" y="4617719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4672583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526279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Qualification evidence does not predict every workplace event.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705856"/>
            <a:ext cx="3703320" cy="237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7C3AED"/>
                </a:solidFill>
                <a:latin typeface="Arial"/>
              </a:rPr>
              <a:t>Use the current controlled standard and test method for execution.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ANALOG DEVICES ESD 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Machine Model (MM): legacy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Historically represented charged metal equipment with a low-impedance discharge.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Appears in the legacy deck and some older literature.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Do not assume correlation with HBM or CDM.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the test model and revision required by the current product/customer specification.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Charged Device Model (CDM)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Device package becomes charged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Device approaches grounded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One pin makes first contact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Very fast discharge leaves the device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Local current density stresses internal structures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1 · MODEL / PROTECTION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CDM tester: charge the device, then ground one pin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6446520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-208-pic-01-6f4bb075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010" y="1965960"/>
            <a:ext cx="4284115" cy="3584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5623560"/>
            <a:ext cx="60807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Technical figure retained from source deck slide 208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874519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08392" y="2130551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8392" y="2185415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039111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package sits above a field plate during charging.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118103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08392" y="3374135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8392" y="3428999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282695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grounded pogo pin initiates the very fast discharge.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361687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08392" y="4617719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4672583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526279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Package, pin and current path influence local stress.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705856"/>
            <a:ext cx="3703320" cy="237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7C3AED"/>
                </a:solidFill>
                <a:latin typeface="Arial"/>
              </a:rPr>
              <a:t>Use the current controlled standard and test method for execution.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1 · ANALOG DEVICES ESD 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HBM, MM and CDM are not interchangeable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HBM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Charged person → device; handling-oriented component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Legacy charged-machine representation; limited correlation.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CDM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Charged device → ground; very fast package-dependent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1 · MODEL / PROTECTION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Source and device determine the discharge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6446520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-032-pic-01-5dc26c4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688789"/>
            <a:ext cx="6080760" cy="21387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5623560"/>
            <a:ext cx="60807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Technical figure retained from source deck slide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874519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08392" y="2130551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8392" y="2185415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039111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charged person may inject current through a pin or package path.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118103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08392" y="3374135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8392" y="3428999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282695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charged device can discharge to grounded metal without human contact.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361687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08392" y="4617719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4672583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526279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the model that matches the qualification question—not the most familiar acronym.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705856"/>
            <a:ext cx="3703320" cy="237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7C3AED"/>
                </a:solidFill>
                <a:latin typeface="Arial"/>
              </a:rPr>
              <a:t>Use the current controlled standard and test method for execution.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Catastrophic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Metal melt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density damages interconnects.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Junction breakdown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Semiconductor junction no longer meets specification.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Oxide rupture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Thin dielectric is punctured.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Immediate detection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 may fail functional or parametric test.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1; TOSHIBA ESD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Physical defect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Gate oxide rupture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local dielectric puncture can create leakage, a short or loss of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Junction damage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High current density can produce leakage, spiking or a shorted junction.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Metallisation damage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Local heating can melt, open or bridge an interconnect.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Passivation and edge damage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Surface or edge breakdown can shift parameters and weaken long-term margin.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1; ANALOG DEVICES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Latent and cumulative 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 degraded device may still pass initial functional test.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Leakage or margins can shift after an event.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The latent-failure concept is debated; evidence must distinguish ESD from other overstress causes.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Repeated mishandling can cumulatively degrade parameters.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ESD versus electrical overstress (EOS)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ESD: rapid electrostatic charge transfer, usually short duration and fast rise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Evidence includes handling history, field sources and microscopic damage pattern.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EOS: broader excessive electrical energy exposure from power, wiring or transients.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Do not label every burnt part as ESD without a disciplined failure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TOSHIBA ESD FAQ; ANALOG DEVICES ESD 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Device-level protection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Steering diodes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Route pin current toward supply rails.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Clamp structures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Turn on during a transient to limit internal voltage.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Series impedance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 current and reduce stress entering the 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Layout discipline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Short, low-inductance paths and adequate spacing make protection effective.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1 · MODEL / PROTECTION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Protection structures divert current from the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6446520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-087-pic-01-2bb58fc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364163"/>
            <a:ext cx="6080760" cy="2788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5623560"/>
            <a:ext cx="60807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Technical figure retained from source deck slide 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874519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08392" y="2130551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8392" y="2185415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039111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Rail-steering structures provide a lower-stress current path.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118103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08392" y="3374135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8392" y="3428999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282695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Clamp and layout performance depend on the complete transient path.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361687"/>
            <a:ext cx="3703320" cy="1042415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08392" y="4617719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4672583"/>
            <a:ext cx="475488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4526279"/>
            <a:ext cx="2743200" cy="7132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External handling controls remain necessary for qualified devices.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705856"/>
            <a:ext cx="3703320" cy="2377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7C3AED"/>
                </a:solidFill>
                <a:latin typeface="Arial"/>
              </a:rPr>
              <a:t>Use the current controlled standard and test method for execution.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exposure occurs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Component manufacture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Incoming inspection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Assembly and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Packaging and logistics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Installation and field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Which devices may be sensitive?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Semiconductors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ICs, MOSFETs, diodes and precision analog parts.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Assemblies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Populated PCBs and hybrid circuits.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Optoelectronic, microwave, piezoelectric and recording-head devices.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Supplier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Actual sensitivity comes from product qualification information.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Economic impact pathway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Undetected ESD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Yield loss or rework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Escapes and field returns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Warranty and investigation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Customer trust and regulatory impact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1 · ESDA FUNDAMENTALS PART 1; ANALOG DEVICES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reliability escape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624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624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Uncontrolled electrostatic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0196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7084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33522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3522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812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Physical damage or parametric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747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4360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607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7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088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misses or misclassifies the defect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4748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807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807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1364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Degraded unit escapes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202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912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5350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5350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Intermittent field failure or return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9300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8618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4262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262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591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Evidence feeds prevention and design improvement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1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Risk-based prioritisation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Lowest credible device withstand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Exposure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People, motion, insulators, automation and transport.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Detectability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Whether damage is caught before shipment.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Consequence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Safety, quality, cost, customer and downtime impact.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43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93008"/>
            <a:ext cx="12191695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Static Hazard Hunt at NovaSense Incoming Inspection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NovaSense receives MEMS sensor trays beside a label printer, stretch-wrap station and wheeled inspection trolley. Failure returns increased after a layout change, but no one has mapped charge-generation and induction risks.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Identify credible charge sources, exposed ESDS items, isolated conductors and field-coupling paths, then prioritise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ESD engineer · incoming-inspection supervisor · quality observer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slow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hazard could damage a device without a visible spark?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metal object could remain charged despite being conductive?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evidence would distinguish induction risk from direct contact?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slow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Annotated hazard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Risk-prioritisation worksheet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Three-control proposal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Peer-review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At least eight credible hazards are identified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Both direct and field-induced pathways are shown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Top risks have evidence-based ratings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Controls follow the ESD control hierarchy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slow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02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Medical Microchip Failure Triage: ESD, EOS or Process Defect?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medical-device ASIC passes wafer test but shows intermittent leakage after final assembly. A handler alarm occurred during the lot, yet the power-supply log also shows a transient. Management wants a defensible triage before quarantined product is released.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Build an evidence-based hypothesis that separates HBM/CDM exposure, EOS and non-electrical process causes.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reliability engineer · failure-analysis lead · production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slow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Why is a monitor alarm not proof that this device was damaged by ESD?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facts make CDM plausible?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would make the latent-failure claim weak?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Chronology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Hypothesis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Containment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Decision-gate briefing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ESD, EOS and process alternatives remain explicit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Evidence needed for each hypothesis is stated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Containment protects product and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Conclusions use calibrated language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Module 1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Charge generation · discharge paths · HBM/MM/CDM · failure modes · business impact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· A1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the decision and retain traceable records.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controls into the following module.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slow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97840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MODULE 2 · K1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98298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ESD Control Principles, Equipment and Practices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858768"/>
            <a:ext cx="96012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EPA design · grounding and bonding · personnel controls · ionisation · packaging · maintenance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58368"/>
            <a:ext cx="19659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6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slow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ESD control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624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624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Identify ESDS items and process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0196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7084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33522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3522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812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Remove unnecessary charge generators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747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4360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607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7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088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Ground and bond conductors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4748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807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807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1364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Neutralise essential insulators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202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912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5350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5350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Shield during storage and transport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9300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8618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4262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262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591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Verify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slow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Electrostatic Protected Area (EPA)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Boundary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defined area with controlled entry and clear visual identification.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Common point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known reference for compatible grounding and bonding.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Approved items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qualified materials, tools and equipment inside.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Behaviour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Handling rules, training and compliance verification are enforced.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slow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d-epa-workst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49884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3538728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MODULE 2 · OPERATING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3538728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An EPA is a controlled system—not a bench accessory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74320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6148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70662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Defined boundary and authorised materials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63016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57530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Equipotential paths for people, bench and fixtures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448056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49884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44398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Handling discipline plus verification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36792"/>
            <a:ext cx="12191695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slow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versus bonding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Grounding connects a conductor to a verified reference.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Personnel and equipment paths must be compatible with safety requirements.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Bonding connects conductors so they remain at substantially the same potential.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Bond isolated metal objects even when they are not intentionally energised.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slow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point ground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Facilities/equipment ground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EPA common point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Mat and fixtures bonded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Personnel grounding connected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Continuity monitored and recorded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slow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Personnel grounding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Seated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Wrist strap with tested cord and verified connection.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Standing/mobile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Foot grounders or qualified footwear/flooring system.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Continuous 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Real-time alarm when the selected path leaves limits.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slow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Wrist-strap control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band and 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before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Connect to approved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Maintain skin contact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Respond immediately to alarm/failure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slow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Footwear and flooring as a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Foot grounders/ESD footwear provide the personnel interface.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Correct wear and both-foot coverage matter.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Qualified flooring completes the path.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Contamination, wax, humidity and wear can change performance.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Worksurface and tool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Dissipative mat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Provides controlled charge decay and a defined work zone.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Grounded fixtures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Prevents isolated conductive metal.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ESD-safe tools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Tweezers, brushes and dispensers selected for the process.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Housekeeping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Cleaners and residues must not defeat electrical properties.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slow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Essential insulators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the process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Measure field at the actual use 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Increase separation where possible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Apply ionisation or shielding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after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slow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Ionisation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Balanced positive and negative ions neutralise charges on insulators and isolated conductors.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where grounding is ineffective or impossible.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Verify offset/balance and decay performance at the work location.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Airflow, distance, contamination and emitter maintenance affect results.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slow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Electrostatic field shielding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Conductive enclosure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Redistributes external charge and protects contents when closed.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Shielding bag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Provides a protective envelope for transport outside the EPA.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Continuity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Seams, closures and openings determine actual performance.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slow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Packaging functions are different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Low charging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Limits triboelectric generation during contact/separation.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Dissipative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Moves charge in a controlled way.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Conductive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Rapidly redistributes charge; may need grounding.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Shielding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Attenuates discharge current and electrostatic fields around contents.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slow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2 · ANALOG DEVICES; ELECTROSTATIC-SENSITIVE DEVICE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Handling ESDS items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EPA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Ground the handler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shielding package inside EPA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Handle by body/edges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Return to protective packaging before leaving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slow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d-safe-handling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49884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3538728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MODULE 2 · OPERATING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3538728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Safe handling keeps product inside a verified protection envelope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74320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6148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70662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Ground the complete person-to-reference path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63016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57530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Hold assemblies by edges and avoid terminals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448056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49884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44398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and close shielding packaging only in the controlled area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36792"/>
            <a:ext cx="12191695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slow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Garments, gloves and finger cots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Garments control charge from clothing and help contain personal items.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Select design and grounding method for the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Gloves/finger cots may support contamination control but are not automatically ESD-safe.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Qualification and correct use are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slow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Carts, racks and material movement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Conductive wheels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the intended path only when floor contact is suitable.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loose insulators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ordinary plastic wrap and foam near exposed ESDS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Covered transport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closed qualified containers outside EPA boundaries.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Route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Avoid high-charging areas and unmanaged handoffs.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slow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Maintenance is part of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owner and interval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and clean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with calibrated equipment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 result and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Trend failures and revise interval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slow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failure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Disconnected strap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Cord attached to an unverified point or worn over clothing.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bag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Shielding package left open or folded incorrectly.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Insulator creep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Tape, foam, trays or paperwork introduced without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Bad response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Alarm bypassed, failed tester ignored or record completed retrospectively.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slow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2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Supervisor’s EPA readiness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Training current; grounding tested; behaviour observed.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Boundary, common point, floor, mat and ioniser verified.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Sensitivity known; packaging and process controls matched.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slow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03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 and Commission an EPA for Orion Optics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Orion Optics is moving laser-diode assembly into a small shared lab. The proposed bench has a mat and wrist strap but no documented boundary, common point, insulator policy or readiness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Design an EPA that controls people, place, product and process, then define commissioning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ESD engineer · facilities engineer · lab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slow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makes the area an EPA rather than simply a bench with a mat?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item cannot be made safe by grounding alone?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evidence authorises production start?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EPA 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Grounding/bonding diagram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Insulator-control 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Commissioning plan and readiness certificate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Boundary and product flow are unambiguous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All conductors have a resolved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Essential insulators have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Commissioning includes method, limit, owner and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slow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04 · K3 · K4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Select Controls for the Aster Robotics Handling Cell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robot transfers packaged ICs from plastic tubes to a grounded nest. Operators also perform manual rework. The team proposes more wrist straps, but field readings near the tube exit remain high.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Match grounding, ionisation, shielding, handling and monitoring controls to both human and automated exposure pathways.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automation engineer · ESD specialist · maintenance supervisor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slow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Why will adding wrist straps not solve the tube-exit field?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controls address CDM risk?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should happen when an ioniser check fails?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slow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Exposure-path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Control-selection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Monitoring/stop-condition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Maintenance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Controls cover human and automated pathways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Insulators are addressed by an appropriate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Monitoring has explicit response 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Residual risk is stated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slow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Module 2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EPA design · grounding and bonding · personnel controls · ionisation · packaging · maintenance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· K3 · K4 · A1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the decision and retain traceable records.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controls into the following module.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slow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4300" b="1">
                <a:solidFill>
                  <a:srgbClr val="161B26"/>
                </a:solidFill>
                <a:latin typeface="Arial"/>
              </a:rPr>
              <a:t>Day 1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93008"/>
            <a:ext cx="12191695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Return on time for Day 2 digital attendance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slow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97840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MODULE 3 · K2 · K3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98298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ESD Standards, Testing and Auditing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858768"/>
            <a:ext cx="96012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Control programme structure · measurements · compliance verification · evidence · performance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58368"/>
            <a:ext cx="19659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6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slow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17320"/>
            <a:ext cx="9966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057400"/>
            <a:ext cx="10012680" cy="18745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ANSI/ESD S20.20-2021 and IEC 61340-5-1:2024 structure organisational controls for protecting ESDS items.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315968"/>
            <a:ext cx="9784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Use the current controlled copy, customer requirements and product sensitivity data for exact limits and methods.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slow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3 · EOS/ESD ASSOCIATION; IEC 61340-5-1:2024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standards stack has distinct purposes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Programme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ANSI/ESD S20.20-2021 or IEC 61340-5-1:2024 defines the control-programme framework.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Methods and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Referenced test methods and verification guidance define how control items are qualified and checked.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Site and customer controls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approved control plan tailors product sensitivity, process risk, limits, frequency, records and response.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slow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3 · EOS/ESD ASSOCIATION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Control programme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Scope and responsibilities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Technical requirements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Product qualification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Compliance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Records, corrective action and management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slow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Product qualification versus compliance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Qualification demonstrates that an ESD control item/type is capable of meeting specified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Evidence may include supplier data or internal testing.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Compliance verification checks that installed controls remain effective in routine use.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It uses defined methods, frequencies, limits and response actions.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slow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Instrument-to-risk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Resistance meter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Worksurfaces, floors, garments, packaging and ground paths.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Personnel tester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Wrist straps, footwear and person/footwear/floor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Field meter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Electrostatic field and charged-object screening.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Charge plate monitor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Ioniser decay and offset/balance performance.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slow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Measurement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624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624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Define method and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0196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7084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33522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3522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812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calibration/status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747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4360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607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7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088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Condition sample/environment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4748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807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807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1364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Measure at specified points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202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912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5350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5350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Record result and uncertainty/context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9300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8618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4262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262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591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Act on failure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slow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d-verific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92847" y="0"/>
            <a:ext cx="449884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92847" y="0"/>
            <a:ext cx="109728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95767" y="502920"/>
            <a:ext cx="3538728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MODULE 3 · OPERATING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5767" y="987552"/>
            <a:ext cx="3538728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Verification turns a control claim into traceable evidence</a:t>
            </a:r>
          </a:p>
        </p:txBody>
      </p:sp>
      <p:sp>
        <p:nvSpPr>
          <p:cNvPr id="7" name="Oval 6"/>
          <p:cNvSpPr/>
          <p:nvPr/>
        </p:nvSpPr>
        <p:spPr>
          <a:xfrm>
            <a:off x="8195767" y="274320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5767" y="276148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6119" y="270662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the specified instrument, electrodes and method</a:t>
            </a:r>
          </a:p>
        </p:txBody>
      </p:sp>
      <p:sp>
        <p:nvSpPr>
          <p:cNvPr id="10" name="Oval 9"/>
          <p:cNvSpPr/>
          <p:nvPr/>
        </p:nvSpPr>
        <p:spPr>
          <a:xfrm>
            <a:off x="8195767" y="36118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5767" y="363016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6119" y="357530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 environment, location, units and first-pass result</a:t>
            </a:r>
          </a:p>
        </p:txBody>
      </p:sp>
      <p:sp>
        <p:nvSpPr>
          <p:cNvPr id="13" name="Oval 12"/>
          <p:cNvSpPr/>
          <p:nvPr/>
        </p:nvSpPr>
        <p:spPr>
          <a:xfrm>
            <a:off x="8195767" y="448056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5767" y="449884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26119" y="444398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Contain and investigate failures before accepting a retest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36792"/>
            <a:ext cx="12191695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slow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Wrist strap and footwear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Daily/user checks screen the assembled personal grounding path before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Failure requires immediate stop, retest and disposition.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Periodic technical checks verify components, testers and flooring systems.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Trend repeated failures by user, device, location and shift.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Surface and point-to-ground resistance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Point-to-point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Characterises the path across a surface/material.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Point-to-ground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Characterises the installed path to the designated ground.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Electrodes, voltage, dwell, humidity and cleanliness influence the reading.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Ioniser performance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624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624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Inspect placement and airflow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0196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7084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33522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3522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812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Warm up per procedure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747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4360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607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7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088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Measure positive/negative decay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4748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807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807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1364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Measure offset/balance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202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912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5350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5350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Clean or adjust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9300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8618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4262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262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591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Repeat and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slow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Audit evidence pyramid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Observe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Actual behaviour at the workstation.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test results from calibrated instruments.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Personnel can explain risk and response.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Training, qualification, maintenance, failures and CAPA are traceable.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slow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Risk-based audit sampling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Increase attention where products are most sensitive, exposure is high or process changes are recent.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Sample across shifts, people and workstations.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Do not let a checklist replace observation and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 single passing sample does not prove the entire 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slow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Nonconformity grading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Immediate product/safety exposure; contain and escalate.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Major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Systemic or repeated breakdown; formal CAPA and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Minor/observation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Local weakness or improvement opportunity; track proportionately.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slow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Corrective-action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624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624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Contain affected product/process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0196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7084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33522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3522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812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Define problem with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747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4360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607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7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088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Analyse root and contributing causes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4748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807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807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1364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Implement corrective/preventive 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202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912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5350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5350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Verify effectiveness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9300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8618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4262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262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591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Standardise and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Useful ESD performance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completion, first-pass pass rate, overdue calibration, training currency.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EPA audit score, insulator findings, alarm response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Lagging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ESD-attributed escapes, scrap, rework and field returns.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Repeat causes, CAPA recurrence and time-to-effective closure.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slow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3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Management review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Effective?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Are controls reducing exposure and failures?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Adequate?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 changes in products/processes require new controls?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Sustained?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Are verification, training and CAPA completed on time?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slow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05 · K2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Execute a Compliance Verification 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Meridian Electronics has four EPAs on two shifts. Recent records show perfect results but several tester failures were repaired without documented product disposition. You must execute a verification round using a simulated data pack.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Plan, execute and record traceable checks for personnel grounding, resistance, electrostatic field and ioniser performance.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ESD auditor · area owner · instrument custodian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slow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Why is a retest pass insufficient without investigating the first failure?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contextual data makes a resistance reading defensible?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Where should ioniser performance be checked?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slow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Completed measurement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Failure/disposition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Metric calculation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Signed evidence package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Every result includes method, units and conditions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Instrument status is 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First-pass failures remain 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Product impact and response are documented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06 · K2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Standards-Based EPA Audit at Helix Assembly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Helix Assembly claims alignment to ANSI/ESD S20.20 and IEC 61340-5-1. A new customer requests evidence that controls are implemented, verified and improved—not merely purchased.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Conduct a risk-based audit using observation, measurement, interview and records, then issue graded findings and corrective-action requests.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lead auditor · ESD programme coordinator · customer observer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slow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evidence shows a control is sustained rather than merely installed?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Why must the exact controlled standard govern numerical limits?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makes a finding actionable?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slow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Audit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Completed checklist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Evidence 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Graded findings and follow-up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Sampling is risk-based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Findings cite objective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Critical exposure triggers containment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Follow-up tests effectiveness, not only completion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slow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Module 3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 programme structure · measurements · compliance verification · evidence · performance metrics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K2 · K3 · A2 · A3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the decision and retain traceable records.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controls into the following module.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slow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4300" b="1">
                <a:solidFill>
                  <a:srgbClr val="161B26"/>
                </a:solidFill>
                <a:latin typeface="Arial"/>
              </a:rPr>
              <a:t>Afternoon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93008"/>
            <a:ext cx="12191695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97840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MODULE 4 · K4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98298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Training, Awareness and Incident Improvement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858768"/>
            <a:ext cx="96012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Competence · behaviour · reporting · root-cause analysis · CAPA · management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58368"/>
            <a:ext cx="19659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6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slow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Competence is role-specific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Recognise ESDS items, enter EPA correctly and handle/pack safely.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Technicians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up, test, troubleshoot and maintain controls.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Engineers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limits, qualify controls and investigate events.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Provide resources, review metrics and remove systemic barriers.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slow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From awareness to reliable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Explain the invisible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Demonstrate the correct 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Practise with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Observe on the job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Reinforce and requalify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slow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ESD champions and supervision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Give immediate, specific feedback at the workstation.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Escalate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Stop unsafe handling and trigger containment when required.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Learn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Share incident lessons without normalising blame.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slow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Recognising a possible ESD incident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 symptom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Sudden failure, parametric shift, intermittent behaviour or unexplained fallout.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 signal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Monitor alarm, failed tester, ioniser drift or broken ground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Exposure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Unprotected handling, ordinary plastic, low humidity or process change.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Caution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Symptoms are not proof; preserve evidence for diagnosis.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slow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Immediate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Stop and protect the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Segregate potentially affected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Preserve settings, logs and samples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Notify defined roles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Begin evidence-based triage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slow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Incident evidence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What/where/when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Product, lot, station, timestamp and 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Environment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Humidity, temperature, nearby motion and insulators.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Tester logs, monitor alarms, grounding and ioniser status.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People/process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handled it, procedure used and recent changes.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d-incident-analysi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49884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3538728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MODULE 4 · OPERATING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3538728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Incident analysis protects both product and evidence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74320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6148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70662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Preserve suspect parts, logs and workstation state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63016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57530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Separate ESD hypotheses from EOS and process alternatives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448056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498848"/>
            <a:ext cx="384048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443984"/>
            <a:ext cx="2990088" cy="6583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Convert findings into CAPA with an effectiveness check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36792"/>
            <a:ext cx="12191695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Root-cause analysis without blame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Ask why the system allowed exposure: design, maintenance, method, material, measurement or management.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Distinguish root, contributing and detection causes.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Avoid stopping at 'operator error'.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A repeated behaviour usually reflects unclear standards, weak design, workload or ineffective supervision.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slow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Selecting corrective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0624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624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Remove generator/exposure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0196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7084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33522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3522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812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Engineer a reliable ground or enclosure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747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4360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60798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7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088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Add detection/monitoring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4748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8074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807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1364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Standardise work and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202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912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5350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5350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Train and verify competence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9300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86188" y="2240280"/>
            <a:ext cx="1607820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42626" y="2578608"/>
            <a:ext cx="694944" cy="6949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262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5916" y="3675887"/>
            <a:ext cx="1388364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Measure sustained effectiveness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slow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Communicating ESD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74519"/>
            <a:ext cx="3255264" cy="1188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22128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Frontline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Show the exact handling risk and the stop-work response.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4" y="1874519"/>
            <a:ext cx="3255264" cy="1188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27448" y="22128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measurements, failure evidence and process capability.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255264" cy="40965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255264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7344" y="2212848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2267712"/>
            <a:ext cx="566928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999232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794760"/>
            <a:ext cx="274320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Translate risk into yield, customer, compliance and continuity impact.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slow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sustainable ESD culture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Visible ownership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programme coordinator and local owners.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Just reporting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Near misses and failures can be reported without concealment.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Closed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Findings become actions, verified changes and updated standards.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 cadence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Metrics, incidents and changes are reviewed regularly.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slow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MODULE 4 · ESDA FUNDAMENTALS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Competency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PRINCIPLE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Internal authorisation should match the tasks a person performs.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knowledge, demonstration and observed-work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RISK /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External credentials may support development but do not replace site-specific qualification.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Reassess after major changes, lapse or repeated nonconformance.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slow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07 · K4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Investigate the PulseMed ESD Incident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PulseMed sees intermittent failures in a safety-relevant control board after a temporary operator used ordinary bubble wrap near final test. A monitor alarm was acknowledged but production continued for 47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Contain risk, preserve evidence, identify system causes and produce a verified CAPA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incident lead · production manager · quality/reliability representative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slow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system weakness allowed the alarm to be ignored?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evidence must be preserved before resetting the workstation?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How will you prove the CAPA was effective?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slow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Containment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Timeline and causal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CAPA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Effectiveness-verification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Exposure window and product scope are defined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Causes extend beyond individual blame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Actions address root and detection 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Effectiveness has measurable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slow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08 · K1–K4 · A1–A3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Management Capstone: Build the Apex ESD Control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105613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Apex Microsystems is opening a mixed lab/factory line for sensitive industrial controllers. Management needs an auditable ESD control plan before customer qualification, covering controls, verification, competence, incidents and improvement.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3337560"/>
            <a:ext cx="10561320" cy="23317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58444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59352"/>
            <a:ext cx="10012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Integrate the complete course into a management-ready ESD control plan and defend it under assessment-style questioning.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892040"/>
            <a:ext cx="10012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Roles: ESD programme manager · operations manager · quality manager · customer assessor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slow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DISCUSS /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How does the plan demonstrate A1, A2 and A3?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Which records prove the control programme remains effective?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What management decision is triggered by deteriorating leading indicators?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OF 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Work from the evidence provided.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State assumptions and missing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986783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Use current controlled limits and methods.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690871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Challenge the first explanation before concluding.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slow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ACTIVITY 08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and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5074920" cy="4160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193792" cy="416052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TO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ESD control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Qualification and verification matrices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39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Competency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63440"/>
            <a:ext cx="452628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●  Metrics dashboard and 90-day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84831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27A3E"/>
                </a:solidFill>
                <a:latin typeface="Arial"/>
              </a:rPr>
              <a:t>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All K and A criteria are traceable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Controls have owners and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32504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Failure response and CAPA are closed-loop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45736"/>
            <a:ext cx="45720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✓  Plan uses current controlled standards for exact requirements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slow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Module 4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Competence · behaviour · reporting · root-cause analysis · CAPA · management ownership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K4 · A2 · A3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the decision and retain traceable records.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controls into the following module.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slow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Recognise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charge generation, induction, discharge models and damage.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 an EPA and select grounding, ionisation, shielding and packaging.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instruments, evaluate records and audit programme effectiveness.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Improve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Investigate incidents, recommend CAPA and manage competence.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slow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the LMS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 this course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Download current courseware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Complete WA and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Upload completed answers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59612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  <a:hlinkClick r:id="rId2"/>
              </a:rPr>
              <a:t>Open the LMS portal</a:t>
            </a:r>
          </a:p>
        </p:txBody>
      </p:sp>
    </p:spTree>
  </p:cSld>
  <p:clrMapOvr>
    <a:masterClrMapping/>
  </p:clrMapOvr>
  <p:transition spd="slow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END-OF-COURSE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518464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Written Assessment (SAQ): 1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Four open-ended questions covering K1–K4.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84648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8464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9968"/>
            <a:ext cx="461772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CASE 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78608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Case Study (CS): 1 hour.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282696"/>
            <a:ext cx="455371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●</a:t>
            </a:r>
            <a:r>
              <a:rPr sz="1400" b="0">
                <a:solidFill>
                  <a:srgbClr val="161B26"/>
                </a:solidFill>
                <a:latin typeface="Arial"/>
              </a:rPr>
              <a:t>  Two open-ended tasks covering A1–A3.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slow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ASSESSMENT · OPEN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 · Final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8973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973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5651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2539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1704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704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267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8382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5270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74436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4436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4998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1113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001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67167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7167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7729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3844" y="3410712"/>
            <a:ext cx="274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0732" y="2240280"/>
            <a:ext cx="1973275" cy="3017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59898" y="2578608"/>
            <a:ext cx="694944" cy="6949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9898" y="2670048"/>
            <a:ext cx="694944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0460" y="3675887"/>
            <a:ext cx="17538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slow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7899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SSG ·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86384"/>
            <a:ext cx="10744200" cy="7498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810512"/>
            <a:ext cx="91440" cy="20391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7" y="256489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TRAQOM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 the live assessment attendance QR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810512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9068" y="1810512"/>
            <a:ext cx="91440" cy="2039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6489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610611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975104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successful submission before assessment.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069079"/>
            <a:ext cx="91440" cy="20391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8407" y="4823459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Privacy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your own details and device.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9068" y="4069079"/>
            <a:ext cx="5234940" cy="2039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4069079"/>
            <a:ext cx="91440" cy="20391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23459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69179"/>
            <a:ext cx="5303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233671"/>
            <a:ext cx="4091939" cy="18105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the trainer if the live code does not open.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slow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417320"/>
            <a:ext cx="9966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057400"/>
            <a:ext cx="10012680" cy="18745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ESD control is a system of engineered paths, disciplined behaviour and verified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315968"/>
            <a:ext cx="9784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Thank you · enquiry@tertiaryinfotech.com · +65 6100 0613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658368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Electrostatic-Discharge-ESD-Control · TGS-2024051412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37376"/>
            <a:ext cx="402336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37376"/>
            <a:ext cx="50292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