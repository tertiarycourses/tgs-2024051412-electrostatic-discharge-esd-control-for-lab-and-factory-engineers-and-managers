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385" r:id="rId136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51412-Electrostatic-Discharge-ESD-Control-for-Lab-and-Factory-Engineers-and-Manager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2011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82512" y="0"/>
            <a:ext cx="201168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7104" y="0"/>
            <a:ext cx="201168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6928"/>
            <a:ext cx="749808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413248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Electrostatic Discharge (ESD) Control for Lab and Factory Engineers and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5257800" cy="5303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TGS-2024051412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TSC: Electrostatic Discharge Control · ELE-OPR-4002-1.1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5303520" cy="8412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v3.1 · 20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(TRAQOM · SSG)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live QR code shown by the trainer.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required afternoon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sitting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 the live LMS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reuse a screenshot or old QR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GENERAL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161B26"/>
                </a:solidFill>
                <a:latin typeface="Arial"/>
              </a:rPr>
              <a:t>Founder and principal 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161B26"/>
                </a:solidFill>
                <a:latin typeface="Arial"/>
              </a:rPr>
              <a:t>Doctorate · engineering and digital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161B26"/>
                </a:solidFill>
                <a:latin typeface="Arial"/>
              </a:rPr>
              <a:t>Technology, quality, process and AI-enabled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161B26"/>
                </a:solidFill>
                <a:latin typeface="Arial"/>
              </a:rPr>
              <a:t>Adult learning and enterprise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1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56231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60903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15184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 or factory process you 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39242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74136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ESD challenge you want to solve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33088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measurement or control item you already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CLASS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18846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challenge and share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8846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disagree with ideas, not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316224"/>
            <a:ext cx="91440" cy="12862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694176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fictional scenarios; do not expose customer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3316224"/>
            <a:ext cx="91440" cy="1286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 punctual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821936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" y="519988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silent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 out quietly for urgent calls.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4821936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19988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any activity that conflicts with site electrical or process safety.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Two-day course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ESD fundamentals, failure mechanisms and control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Standards, measurement, audit, incident response and management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 h WA + 1 h Case Study; open book; submit on LMS.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control measures to manage ESD generation based on ESD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Evaluate and recommend actions to improve ESD control effectiveness in accordance with ESD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Eight realistic activities build audit-ready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activity mirrors lab/factory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ELECTROSTATIC DISCHARGE CONTROL · ELE-OPR-4002-1.1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Knowledge and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9098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0002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04596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Introduction to ESD theory and principles, test models and ESD control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9098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0002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04596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Static control with respect to established ESD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39796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939796"/>
            <a:ext cx="91440" cy="9098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12953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175253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104388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Types of ESD instruments used for checks and measurements.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2939796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2939796"/>
            <a:ext cx="91440" cy="9098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2953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75253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104388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Preventive measures to reduce the risk of ESD generation.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69080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069080"/>
            <a:ext cx="91440" cy="9098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" y="425881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430453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233672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control measures to control the generation of ESD.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4069080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4069080"/>
            <a:ext cx="91440" cy="9098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5881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30453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233672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the effectiveness of employed ESD control measures.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5198364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5198364"/>
            <a:ext cx="91440" cy="9098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8407" y="538810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7" y="5433822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64207" y="5362956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 follow-up actions to reduce the risk of ESD generation.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CANDIDATE CONDUCT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Individual work; no discussion.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Open book: course slides, Learner Guide and approved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Phones and other materials under the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black/blue pen; no correction fluid.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INSTRUMENTS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WA: 4 open-ended questions, K1–K4, 1 hour.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Case Study: 2 open-ended tasks, A1–A3, 1 hour.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Submit completed answers on the LMS.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Reassessment and appeal rights apply.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ELIGIBILITY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Minimum 75% SSG digital attendance.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Complete both assessment instruments.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Competent outcome required for successful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Assessment evidence must be your own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Assessor feedback explains the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Appeal may be lodged through the published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ASSESSMENT · 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3065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3065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course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383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0721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0397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397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49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Clone or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7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48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489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364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activities/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566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8580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580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2278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with the numbered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596128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course activity repository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REASONING CHECKPOINT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to reason about ESD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240280"/>
            <a:ext cx="1325880" cy="1325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13258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94560"/>
            <a:ext cx="8458200" cy="1965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Recognise the charge source, field and vulnerable item before selecting a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4434840"/>
            <a:ext cx="8183879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execution steps and evidence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Basics of ESD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sudden charge transfer can damage a device without a visible spark or a felt shock.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Treat every unprotected ESDS item as vulnerable throughout handling, test, storage and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charge–field–discharge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 and separation create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 remains on isolated conductors or insulators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electric field polarises nearby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conductive path 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current damages a vulnerable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Triboelectric charging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Material pair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electron affinities drive polarity and magnitude.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Contact area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intimate contact can transfer more charge.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Speed and force affect charge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 and contamination change surface leakage.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Conductors, dissipative materials and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Conductors redistribute charge quickly and can be grounded.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Dissipative materials move charge in a controlled manner.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Insulators retain localised charge and cannot be neutralised by grounding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Low-charging, dissipative and shielding are different material functions.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metal tool, trolley or fixture can remain charged when it has no verified path to 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Bonding removes potential differences; grounding provides a controlled reference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induction and polarisation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Charged object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Field redistributes charge in nearby 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Temporary ground connection permits charge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is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Object retains a net charge after the field leaves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Contact discharge versus air discharge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Contact discharge: differently charged objects touch and charge transfers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Waveform depends on the source, path impedance and contact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 discharge: a strong field ionises an air gap before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Visible sparks represent only a subset of damaging ESD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controls discharge severity?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Voltage difference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Stored potential is one risk indicator, not the whole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Capacitance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stored charge can raise available energy.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Path impedance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Resistance and inductance shape peak current and rise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Pins, package and internal structures determine failure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Body Model (HBM)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Represents a charged person discharging through a device pin.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Useful for component qualification and handling robustness.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laboratory model—not a prediction of every factory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supplier sensitivity data and the applicable controlled test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HBM qualification uses a defined source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9-pic-01-2fd23a81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01807"/>
            <a:ext cx="6080760" cy="2712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Capacitance and series resistance shape the test pulse.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network stresses a defined pin pair under a controlled method.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Qualification evidence does not predict every workplace event.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Machine Model (MM): legacy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Historically represented charged metal equipment with a low-impedance discharge.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Appears in the legacy deck and some older literature.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assume correlation with HBM or CDM.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the test model and revision required by the current product/customer specification.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Charged Device Model (CDM)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package becomes charged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approaches grounded metal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pin makes first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Very fast discharge leaves the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Local current density stresses internal structures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CDM tester: charge the device, then ground one pin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08-pic-01-6f4bb07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10" y="1965960"/>
            <a:ext cx="4284115" cy="3584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208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package sits above a field plate during charging.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grounded pogo pin initiates the very fast discharge.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Package, pin and current path influence local stress.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HBM, MM and CDM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person → device; handling-oriented component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Legacy charged-machine representation; limited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CDM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device → ground; very fast package-dependent event.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Source and device determine the discharge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2-pic-01-5dc26c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88789"/>
            <a:ext cx="6080760" cy="21387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charged person may inject current through a pin or package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charged device can discharge to grounded metal without human contact.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 the model that matches the qualification question—not the most familiar acronym.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Catastrophic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 melt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density damages interconnects.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Junction breakdown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Semiconductor junction no longer meets specification.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Oxide rupture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Thin dielectric is punctured.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Immediate detection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may fail functional or parametric test.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1; TOSHIBA ESD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Physical defect signatures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Gate oxide rupture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local dielectric puncture can create leakage, a short or loss of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Junction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 current density can produce leakage, spiking or a shorted junction.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Metallisation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Local heating can melt, open or bridge an interconnect.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Passivation and edge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Surface or edge breakdown can shift parameters and weaken long-term margin.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1; ANALOG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Latent and cumulative 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degraded device may still pass initial functional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Leakage or margins can shift after an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The latent-failure concept is debated; evidence must distinguish ESD from other overstress causes.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Repeated mishandling can cumulatively degrade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versus electrical overstress (EOS)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ESD: rapid electrostatic charge transfer, usually short duration and fast rise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includes handling history, field sources and microscopic damage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EOS: broader excessive electrical energy exposure from power, wiring or transients.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label every burnt part as ESD without a disciplined failure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TOSHIBA ESD FAQ;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Device-level protection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Steering diodes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Route pin current toward supply rails.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Clamp structures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Turn on during a transient to limit internal voltage.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Series impedance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 current and reduce stress entering the 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Layout discipline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Short, low-inductance paths and adequate spacing make protection effective.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MODEL / PROTECTION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Protection structures divert current from the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644652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7-pic-01-2bb58fc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64163"/>
            <a:ext cx="6080760" cy="2788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623560"/>
            <a:ext cx="60807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Technical figure retained from source deck slide 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08392" y="2130551"/>
            <a:ext cx="475488" cy="47548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185415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39111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Rail-steering structures provide a lower-stress current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118103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08392" y="3374135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3428999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282695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Clamp and layout performance depend on the complete transient path.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361687"/>
            <a:ext cx="3703320" cy="1042415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08392" y="4617719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672583"/>
            <a:ext cx="475488" cy="3108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526279"/>
            <a:ext cx="2743200" cy="7132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handling controls remain necessary for qualified devices.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705856"/>
            <a:ext cx="3703320" cy="2377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>
                <a:solidFill>
                  <a:srgbClr val="7C3AED"/>
                </a:solidFill>
                <a:latin typeface="Arial"/>
              </a:rPr>
              <a:t>Use the current controlled standard and test method for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exposure occurs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Component manufacture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Incoming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Assembly and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Packaging and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Installation and field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devices may be sensitive?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Semiconductors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ICs, MOSFETs, diodes and precision analog parts.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Assemblies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Populated PCBs and hybrid circuits.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Optoelectronic, microwave, piezoelectric and recording-head devices.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Supplier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sensitivity comes from product qualification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Economic impact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Undetected ESD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Yield loss or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Escapes and field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Warranty and investigation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trust and regulatory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1; ANALOG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reliability escape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Uncontrolled electrostatic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Physical damage or parametric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misses or misclassifies the defect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Degraded unit escapes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Intermittent field failure or return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Evidence feeds prevention and design 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Lowest credible device withstand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motion, insulators, automation and transport.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Whether damage is caught before shipment.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Consequence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quality, cost, customer and downtime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Static Hazard Hunt at NovaSense Incoming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NovaSense receives MEMS sensor trays beside a label printer, stretch-wrap station and wheeled inspection trolley. Failure returns increased after a layout change, but no one has mapped charge-generation and induction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Identify credible charge sources, exposed ESDS items, isolated conductors and field-coupling paths, then prioritise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incoming-inspection supervisor · quality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hazard could damage a device without a visible spark?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metal object could remain charged despite being conductive?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would distinguish induction risk from direct contact?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Annotated hazard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Risk-prioritisation worksheet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Three-control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Peer-review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At least eight credible hazards are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Both direct and field-induced pathways are shown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Top risks have evidence-based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follow the ESD control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Medical Microchip Failure Triage: ESD, EOS or Process Defect?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medical-device ASIC passes wafer test but shows intermittent leakage after final assembly. A handler alarm occurred during the lot, yet the power-supply log also shows a transient. Management wants a defensible triage before quarantined product is released.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Build an evidence-based hypothesis that separates HBM/CDM exposure, EOS and non-electrical process causes.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reliability engineer · failure-analysis lead · production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monitor alarm not proof that this device was damaged by ESD?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facts make CDM plausible?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would make the latent-failure claim weak?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Chronology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Hypothesis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Decision-gate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ESD, EOS and process alternatives remain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Evidence needed for each hypothesis is stated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Containment protects product and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Conclusions use calibrated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2 · K1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Control Principles, Equipment and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ESD control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ESDS items and process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unnecessary charge generators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and bond conductors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Neutralise essential insulators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Shield during storage and transport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Protected Area (EPA)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defined area with controlled entry and clear visual identification.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Common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known reference for compatible grounding and bonding.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items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qualified materials, tools and equipment inside.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Handling rules, training and compliance verification are enforced.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epa-workst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2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An EPA is a controlled system—not a bench accessory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Defined boundary and authorised materials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Equipotential paths for people, bench and fixtures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Handling discipline plus verification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versus bonding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Grounding connects a conductor to a verified 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Personnel and equipment paths must be compatible with safety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Bonding connects conductors so they remain at substantially the same potential.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 isolated metal objects even when they are not intentionally energised.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point ground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Facilities/equipment ground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EPA common point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 and fixtures bonded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Personnel grounding 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Continuity monitored and recorded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Personnel grounding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Wrist strap with tested cord and verified connection.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Standing/mobile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Foot grounders or qualified footwear/flooring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Continuous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Real-time alarm when the selected path leaves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Wrist-strap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band and 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before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Connect to approved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Maintain skin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immediately to alarm/failure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Footwear and flooring as a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Foot grounders/ESD footwear provide the personnel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Correct wear and both-foot coverage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Qualified flooring completes the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Contamination, wax, humidity and wear can change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Worksurface and tool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 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Provides controlled charge decay and a defined work zone.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 fixtures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Prevents isolated conductive metal.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ESD-safe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Tweezers, brushes and dispensers selected for the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Housekeeping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Cleaners and residues must not defeat electrical properties.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Essential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the process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field at the actual use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Increase separation where 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ionisation or shielding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after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Balanced positive and negative ions neutralise charges on insulators and isolated conductors.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where grounding is ineffective or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Verify offset/balance and decay performance at the work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Airflow, distance, contamination and emitter maintenance affect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field shielding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Conductive enclosure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Redistributes external charge and protects contents when closed.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Shielding bag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Provides a protective envelope for transport outside the EPA.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Seams, closures and openings determine actual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Packaging functions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charging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Limits triboelectric generation during contact/separation.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Moves charge in a controlled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Rapidly redistributes charge; may need grounding.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Shielding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Attenuates discharge current and electrostatic fields around contents.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ANALOG DEVICES; ELECTROSTATIC-SENSITIVE DEVICE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Handling ESDS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EPA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the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shielding package inside EPA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by body/edges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Return to protective packaging before leaving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safe-handling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2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Safe handling keeps product inside a verified protection envelope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the complete person-to-reference path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Hold assemblies by edges and avoid terminals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and close shielding packaging only in the controlled area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Garments, gloves and finger cots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Garments control charge from clothing and help contain personal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Select design and grounding method for the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Gloves/finger cots may support contamination control but are not automatically ESD-safe.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and correct use are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Carts, racks and material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 wheels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the intended path only when floor contact is suitable.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loose insulators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ordinary plastic wrap and foam near exposed ESDS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Covered 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closed qualified containers outside EPA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Route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high-charging areas and unmanaged handoffs.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Maintenance is part of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owner and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and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with calibrated equipment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result and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Trend failures and revise interval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Disconnected strap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Cord attached to an unverified point or worn over clothing.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Shielding package left open or folded incorrectly.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Insulator creep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Tape, foam, trays or paperwork introduced without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Bad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Alarm bypassed, failed tester ignored or record completed retrospectively.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Supervisor’s EPA readiness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current; grounding tested; behaviour observed.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Boundary, common point, floor, mat and ioniser 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Sensitivity known; packaging and process controls matched.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and Commission an EPA for Orion Optics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Orion Optics is moving laser-diode assembly into a small shared lab. The proposed bench has a mat and wrist strap but no documented boundary, common point, insulator policy or readiness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Design an EPA that controls people, place, product and process, then define commissioning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facilities engineer · lab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the area an EPA rather than simply a bench with a mat?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item cannot be made safe by grounding alone?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authorises production start?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EPA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Grounding/bonding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Insulator-control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Commissioning plan and readiness 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Boundary and product flow are unambiguous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conductors have a resolved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Essential insulators have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Commissioning includes method, limit, owner and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Controls for the Aster Robotics Handling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robot transfers packaged ICs from plastic tubes to a grounded nest. Operators also perform manual rework. The team proposes more wrist straps, but field readings near the tube exit remain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Match grounding, ionisation, shielding, handling and monitoring controls to both human and automated exposure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automation engineer · ESD specialist · maintenance 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will adding wrist straps not solve the tube-exit field?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controls address CDM risk?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should happen when an ioniser check fails?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Exposure-path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Control-selection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Monitoring/stop-condition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Maintenance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cover human and automated pathways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Insulators are addressed by an appropriate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Monitoring has explicit response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Residual risk is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K3 · K4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Day 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Return on time for Day 2 digital attendance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3 · K2 · K3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Standards, Testing and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ANSI/ESD S20.20-2021 and IEC 61340-5-1:2024 structure organisational controls for protecting ESDS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Use the current controlled copy, customer requirements and product sensitivity data for exact limits and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EOS/ESD ASSOCIATION; IEC 61340-5-1:2024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standards stack has distinct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Programme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ANSI/ESD S20.20-2021 or IEC 61340-5-1:2024 defines the control-programme framework.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Methods and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Referenced test methods and verification guidance define how control items are qualified and checked.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Site and customer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approved control plan tailors product sensitivity, process risk, limits, frequency, records and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EOS/ESD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programme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and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Technical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 qualification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Compliance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Records, corrective action and management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 qualification versus compliance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demonstrates that an ESD control item/type is capable of meeting specified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may include supplier data or internal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Compliance verification checks that installed controls remain effective in routine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It uses defined methods, frequencies, limits and response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Instrument-to-risk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Resistance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Worksurfaces, floors, garments, packaging and ground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Personnel tester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Wrist straps, footwear and person/footwear/floor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Electrostatic field and charged-object screening.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Charge plate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Ioniser decay and offset/balance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Measurement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method and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calibration/status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 sample/environment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at specified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result and uncertainty/context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 on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verification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92847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92847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5767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3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5767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Verification turns a control claim into traceable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8195767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5767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6119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the specified instrument, electrodes and method</a:t>
            </a:r>
          </a:p>
        </p:txBody>
      </p:sp>
      <p:sp>
        <p:nvSpPr>
          <p:cNvPr id="10" name="Oval 9"/>
          <p:cNvSpPr/>
          <p:nvPr/>
        </p:nvSpPr>
        <p:spPr>
          <a:xfrm>
            <a:off x="8195767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5767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6119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environment, location, units and first-pass result</a:t>
            </a:r>
          </a:p>
        </p:txBody>
      </p:sp>
      <p:sp>
        <p:nvSpPr>
          <p:cNvPr id="13" name="Oval 12"/>
          <p:cNvSpPr/>
          <p:nvPr/>
        </p:nvSpPr>
        <p:spPr>
          <a:xfrm>
            <a:off x="8195767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5767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6119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and investigate failures before accepting a retest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 strap and footwear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Daily/user checks screen the assembled personal grounding path before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Failure requires immediate stop, retest and disposition.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Periodic technical checks verify components, testers and flooring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Trend repeated failures by user, device, location and shift.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Surface and point-to-ground resistance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Point-to-point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path across a surface/material.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Point-to-ground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installed path to the designated ground.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Electrodes, voltage, dwell, humidity and cleanliness influence the reading.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Ioniser performance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placement and 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Warm up per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positive/negative decay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offset/balance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or adjust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Repeat and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 pyramid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behaviour at the workstation.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test results from calibrated instruments.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Personnel can explain risk and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Training, qualification, maintenance, failures and CAPA are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audit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Increase attention where products are most sensitive, exposure is high or process changes are recent.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Sample across shifts, people and workstations.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let a checklist replace observation and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single passing sample does not prove the entire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Nonconformity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Immediate product/safety exposure; contain and escalate.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Major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Systemic or repeated breakdown; formal CAPA and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Minor/observation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Local weakness or improvement opportunity; track proportionately.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Corrective-action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Contain affected product/process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problem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root and contributing causes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 corrective/preventive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effectiveness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and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Useful ESD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completion, first-pass pass rate, overdue calibration, training currency.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audit score, insulator findings, alarm response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ESD-attributed escapes, scrap, rework and field returns.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 causes, CAPA recurrence and time-to-effective 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controls reducing exposure and failures?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Adequate?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changes in products/processes require new controls?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Sustained?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verification, training and CAPA completed on time?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 · K2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Execute a Compliance Verification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Meridian Electronics has four EPAs on two shifts. Recent records show perfect results but several tester failures were repaired without documented product disposition. You must execute a verification round using a simulated data pack.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Plan, execute and record traceable checks for personnel grounding, resistance, electrostatic field and ioniser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auditor · area owner · instrument custodian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retest pass insufficient without investigating the first failure?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contextual data makes a resistance reading defensible?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Where should ioniser performance be checked?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measurement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Failure/disposition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Signed evidence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Every result includes method, units and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Instrument status is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First-pass failures remain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Product impact and response are documented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 · K2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Standards-Based EPA Audit at Helix Assembly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Helix Assembly claims alignment to ANSI/ESD S20.20 and IEC 61340-5-1. A new customer requests evidence that controls are implemented, verified and improved—not merely purchased.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Conduct a risk-based audit using observation, measurement, interview and records, then issue graded findings and corrective-action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lead auditor · ESD programme coordinator · customer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shows a control is sustained rather than merely installed?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must the exact controlled standard govern numerical limits?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a finding actionable?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Audit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Evidence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Graded findings and follow-up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Sampling is risk-based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Findings cite objective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Critical exposure triggers containment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Follow-up tests effectiveness, not only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K3 · A2 · A3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Afternoon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4 · K4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Training, Awareness and Incident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Competence is role-specific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Recognise ESDS items, enter EPA correctly and handle/pack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Technicians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up, test, troubleshoot and maintain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Engineers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limits, qualify controls and investigate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resources, review metrics and remove systemic barriers.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awareness to reliable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the invisible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Demonstrate the correct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Practise with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on the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Reinforce and requalify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champions and supervision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Give immediate, specific feedback at the workstation.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 unsafe handling and trigger containment when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Share incident lessons without normalising blame.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Recognising a possible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symptom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Sudden failure, parametric shift, intermittent behaviour or unexplained fallout.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alarm, failed tester, ioniser drift or broken ground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Unprotected handling, ordinary plastic, low humidity or process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Symptoms are not proof; preserve evidence for diagnosis.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Immediate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and protect the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Segregate potentially affected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settings, logs and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defined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Begin evidence-based triage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evidence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What/where/when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lot, station, timestamp and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Humidity, temperature, nearby motion and insulators.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Tester logs, monitor alarms, grounding and ioniser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People/process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handled it, procedure used and recent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d-incident-analysis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49884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3538728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MODULE 4 · OPERATING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538728" cy="1417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Incident analysis protects both product and evidence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0662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suspect parts, logs and workstation state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61188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57530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Separate ESD hypotheses from EOS and process alternatives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4805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384048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443984"/>
            <a:ext cx="2990088" cy="6583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Convert findings into CAPA with an effectiveness 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36792"/>
            <a:ext cx="12191695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Root-cause analysis without blame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Ask why the system allowed exposure: design, maintenance, method, material, measurement or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Distinguish root, contributing and detection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Avoid stopping at 'operator error'.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repeated behaviour usually reflects unclear standards, weak design, workload or ineffective supervision.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corrective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generator/exposure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 a reliable ground or enclosure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detection/monitoring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work and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 and verify competence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sustained effectiveness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Communicating ESD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Frontline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 the exact handling risk and the stop-work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measurements, failure evidence and process capability.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Translate risk into yield, customer, compliance and continuity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sustainable ESD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Visible 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programme coordinator and local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 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Near misses and failures can be reported without concealment.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Findings become actions, verified changes and updated standards.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cadence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Metrics, incidents and changes are reviewed regularly.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Competency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Internal authorisation should match the tasks a person performs.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knowledge, demonstration and observed-work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External credentials may support development but do not replace site-specific qualification.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Reassess after major changes, lapse or repeated nonconformance.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 · K4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Investigate the PulseMed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PulseMed sees intermittent failures in a safety-relevant control board after a temporary operator used ordinary bubble wrap near final test. A monitor alarm was acknowledged but production continued for 47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Contain risk, preserve evidence, identify system causes and produce a verified CAPA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incident lead · production manager · quality/reliability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system weakness allowed the alarm to be ignored?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must be preserved before resetting the workstation?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How will you prove the CAPA was effective?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Timeline and causal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CAPA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Effectiveness-verification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Exposure window and product scope are 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Causes extend beyond individual blame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Actions address root and detection 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Effectiveness has measurable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 · K1–K4 · A1–A3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Capstone: Build the Apex ESD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Apex Microsystems is opening a mixed lab/factory line for sensitive industrial controllers. Management needs an auditable ESD control plan before customer qualification, covering controls, verification, competence, incidents and improvement.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Integrate the complete course into a management-ready ESD control plan and defend it under assessment-style questioning.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programme manager · operations manager · quality manager · customer assessor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How does the plan demonstrate A1, A2 and A3?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records prove the control programme remains 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management decision is triggered by deteriorating leading indicators?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ESD control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Qualification and verification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Competency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Metrics dashboard and 90-day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K and A criteria are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have owners and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Failure response and CAPA are closed-loop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Plan uses current controlled standards for exact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K4 · A2 · A3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Recognise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charge generation, induction, discharge models and damage.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 EPA and select grounding, ionisation, shielding and packaging.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instruments, evaluate records and audit programme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Investigate incidents, recommend CAPA and manage competence.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LMS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this course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current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WA and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Upload completed answers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59612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LMS portal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Written Assessment (SAQ): 1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Four open-ended questions covering K1–K4.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Case Study (CS): 1 hour.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Two open-ended tasks covering A1–A3.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ASSESSMENT · 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 · Final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SSG ·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live assessment attendance QR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successful submission before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your own details and device.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the trainer if the live code does not open.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ESD control is a system of engineered paths, disciplined behaviour and verified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Thank you · enquiry@tertiaryinfotech.com ·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915" y="1741932"/>
            <a:ext cx="8169865" cy="4064508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49808" y="5888736"/>
            <a:ext cx="10692079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